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2681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182880"/>
            <a:ext cx="4114800" cy="4114800"/>
          </a:xfrm>
          <a:prstGeom prst="ellipse">
            <a:avLst/>
          </a:prstGeom>
          <a:solidFill>
            <a:srgbClr val="6B00FF">
              <a:alpha val="18000"/>
            </a:srgbClr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94960" y="457200"/>
            <a:ext cx="3566160" cy="3566160"/>
          </a:xfrm>
          <a:prstGeom prst="ellipse">
            <a:avLst/>
          </a:prstGeom>
          <a:solidFill>
            <a:srgbClr val="00AAFF">
              <a:alpha val="12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PulseMind </a:t>
            </a:r>
            <a:r>
              <a:rPr lang="en-US" sz="54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· Gamified · Privacy-First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Wellness for University Students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64008" cy="23774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063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Mood Detection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447288"/>
            <a:ext cx="64008" cy="237744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472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 / ACT Recommendations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64008" cy="237744"/>
          </a:xfrm>
          <a:prstGeom prst="rect">
            <a:avLst/>
          </a:prstGeom>
          <a:solidFill>
            <a:srgbClr val="00D4A4"/>
          </a:solidFill>
          <a:ln w="12700">
            <a:solidFill>
              <a:srgbClr val="00D4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8313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215384"/>
            <a:ext cx="64008" cy="237744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2153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0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Aniket, Reg. No – 12308729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Crisis in Higher Education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7772400" cy="22860"/>
          </a:xfrm>
          <a:prstGeom prst="rect">
            <a:avLst/>
          </a:prstGeom>
          <a:solidFill>
            <a:srgbClr val="00AAFF">
              <a:alpha val="4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2743200" cy="1371600"/>
          </a:xfrm>
          <a:prstGeom prst="rect">
            <a:avLst/>
          </a:prstGeom>
          <a:solidFill>
            <a:srgbClr val="101535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1430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20–31%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higher-ed students show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clinically significant mental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symptoms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70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Hyseni Duraku et al., 2023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20440" y="1097280"/>
            <a:ext cx="2697480" cy="80467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170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Understaffed counselling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0" y="1481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wait weeks for any support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20440" y="2011680"/>
            <a:ext cx="2697480" cy="80467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20848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Stigma around help-seeking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2395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students go undetected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55080" y="1097280"/>
            <a:ext cx="2697480" cy="80467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170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Passive one-size-fits-all tools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92240" y="1481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engagement, drop-off in days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55080" y="2011680"/>
            <a:ext cx="2697480" cy="80467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92240" y="20848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No early-intervention data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2395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Counsellors cannot act proactively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2907792"/>
            <a:ext cx="8229600" cy="640080"/>
          </a:xfrm>
          <a:prstGeom prst="rect">
            <a:avLst/>
          </a:prstGeom>
          <a:solidFill>
            <a:srgbClr val="0A0E24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07792"/>
            <a:ext cx="54864" cy="64008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9626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Gap: 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" y="32186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a low-friction, private, daily-use tool that adapts to their emotional state and encourages consistent engagement.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PulseMind AI at a Glance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Full-stack, privacy-first mental wellness platform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7772400" cy="22860"/>
          </a:xfrm>
          <a:prstGeom prst="rect">
            <a:avLst/>
          </a:prstGeom>
          <a:solidFill>
            <a:srgbClr val="00AAFF">
              <a:alpha val="4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opens the app, takes a 2-second mood scan, and gets a personalized action plan — in under 30 seconds.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2743200" cy="1069848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" y="1700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15568" y="1700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Mood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19933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Webcam-based FER + OpenCV emotion analysis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572768"/>
            <a:ext cx="2743200" cy="1069848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02152" y="1700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95928" y="1700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95928" y="19933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 · ACT · Resilience Theory frameworks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572768"/>
            <a:ext cx="2743200" cy="1069848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2512" y="1700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76288" y="17007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 Analytics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76288" y="19933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score, weekly &amp; monthly trends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761488"/>
            <a:ext cx="2743200" cy="1069848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" y="28895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15568" y="2889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badges &amp; daily streak milestones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761488"/>
            <a:ext cx="2743200" cy="1069848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02152" y="28895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995928" y="2889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WebSocket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95928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push of mood saves &amp; badge unlocks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2761488"/>
            <a:ext cx="2743200" cy="1069848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82512" y="288950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76288" y="28895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76288" y="31821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· Counsellor · Admin RBAC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+  FastAPI  +  MongoDB  ·  Docker  ·  GitHub Actions CI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design: Client → API Gateway → Data + AI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7772400" cy="22860"/>
          </a:xfrm>
          <a:prstGeom prst="rect">
            <a:avLst/>
          </a:prstGeom>
          <a:solidFill>
            <a:srgbClr val="00AAFF">
              <a:alpha val="4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8229600" cy="107899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15568"/>
            <a:ext cx="64008" cy="1078992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14813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SPA (Tailwind · Zustand · Axios)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7099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BlazeFace — in-browser face detection (TF.js)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193852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client — per-user live channel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8229600" cy="107899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322576"/>
            <a:ext cx="64008" cy="1078992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414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LAYER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26883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 · Uvicorn ASGI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29169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Routers: auth · mood · recommend · analytics · 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145536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· JWT Auth · SlowAPI rate limiter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29584"/>
            <a:ext cx="8229600" cy="107899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29584"/>
            <a:ext cx="64008" cy="1078992"/>
          </a:xfrm>
          <a:prstGeom prst="rect">
            <a:avLst/>
          </a:prstGeom>
          <a:solidFill>
            <a:srgbClr val="00D4A4"/>
          </a:solidFill>
          <a:ln w="12700">
            <a:solidFill>
              <a:srgbClr val="00D4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6210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AI LAYER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" y="389534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7.0 — users &amp; moods collections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" y="412394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Module: OpenCV + FER + trend predictor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8368" y="435254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· Analytics · Recommendation services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2194560"/>
            <a:ext cx="365760" cy="91440"/>
          </a:xfrm>
          <a:prstGeom prst="rect">
            <a:avLst/>
          </a:prstGeom>
          <a:solidFill>
            <a:srgbClr val="7080A8">
              <a:alpha val="60000"/>
            </a:srgbClr>
          </a:solidFill>
          <a:ln w="12700">
            <a:solidFill>
              <a:srgbClr val="7080A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0" y="3401568"/>
            <a:ext cx="365760" cy="91440"/>
          </a:xfrm>
          <a:prstGeom prst="rect">
            <a:avLst/>
          </a:prstGeom>
          <a:solidFill>
            <a:srgbClr val="7080A8">
              <a:alpha val="60000"/>
            </a:srgbClr>
          </a:solidFill>
          <a:ln w="12700">
            <a:solidFill>
              <a:srgbClr val="7080A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inventory across frontend, backend, AI, and DevOps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7772400" cy="22860"/>
          </a:xfrm>
          <a:prstGeom prst="rect">
            <a:avLst/>
          </a:prstGeom>
          <a:solidFill>
            <a:srgbClr val="00AAFF">
              <a:alpha val="4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2039112" cy="382219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78992"/>
            <a:ext cx="2039112" cy="347472"/>
          </a:xfrm>
          <a:prstGeom prst="rect">
            <a:avLst/>
          </a:prstGeom>
          <a:solidFill>
            <a:srgbClr val="00AAFF">
              <a:alpha val="30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78992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4996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5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19568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4140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4 (state)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8712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+ Chart.js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3284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11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7856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r164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2428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TF.js + BlazeFace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33472" y="1078992"/>
            <a:ext cx="2039112" cy="382219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633472" y="1078992"/>
            <a:ext cx="2039112" cy="347472"/>
          </a:xfrm>
          <a:prstGeom prst="rect">
            <a:avLst/>
          </a:prstGeom>
          <a:solidFill>
            <a:srgbClr val="6B00FF">
              <a:alpha val="30000"/>
            </a:srgbClr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1078992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24912" y="14996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24912" y="19568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ASGI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24912" y="24140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3.6 (async ODM)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24912" y="28712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python-jose (JWT)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4912" y="33284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passlib[bcrypt]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24912" y="37856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Fernet encryption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24912" y="42428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SlowAPI rate limiter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9744" y="1078992"/>
            <a:ext cx="2039112" cy="382219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9744" y="1078992"/>
            <a:ext cx="2039112" cy="347472"/>
          </a:xfrm>
          <a:prstGeom prst="rect">
            <a:avLst/>
          </a:prstGeom>
          <a:solidFill>
            <a:srgbClr val="00D4A4">
              <a:alpha val="30000"/>
            </a:srgbClr>
          </a:solidFill>
          <a:ln w="12700">
            <a:solidFill>
              <a:srgbClr val="00D4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1078992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Data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901184" y="14996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22.5 (CNN emotions)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01184" y="19568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4.10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01184" y="24140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1.5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01184" y="28712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1.5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01184" y="33284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7.0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01184" y="37856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01184" y="42428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fallback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986016" y="1078992"/>
            <a:ext cx="2039112" cy="382219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86016" y="1078992"/>
            <a:ext cx="2039112" cy="347472"/>
          </a:xfrm>
          <a:prstGeom prst="rect">
            <a:avLst/>
          </a:prstGeom>
          <a:solidFill>
            <a:srgbClr val="FFAA00">
              <a:alpha val="30000"/>
            </a:srgbClr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77456" y="1078992"/>
            <a:ext cx="1856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QA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077456" y="14996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 25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077456" y="19568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077456" y="24140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8.3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077456" y="28712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077456" y="33284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smoke script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77456" y="37856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+ readiness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077456" y="424281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GDPR-aligned design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Deep-Dive: AI Mood Detection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emotion analysis works — step by step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7772400" cy="22860"/>
          </a:xfrm>
          <a:prstGeom prst="rect">
            <a:avLst/>
          </a:prstGeom>
          <a:solidFill>
            <a:srgbClr val="00AAFF">
              <a:alpha val="4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4206240" cy="877824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98448"/>
            <a:ext cx="475488" cy="475488"/>
          </a:xfrm>
          <a:prstGeom prst="ellipse">
            <a:avLst/>
          </a:prstGeom>
          <a:solidFill>
            <a:srgbClr val="00AAFF">
              <a:alpha val="28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1225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Capture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07008" y="15270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captures frame from browser webcam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115568"/>
            <a:ext cx="4206240" cy="877824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83480" y="1298448"/>
            <a:ext cx="475488" cy="475488"/>
          </a:xfrm>
          <a:prstGeom prst="ellipse">
            <a:avLst/>
          </a:prstGeom>
          <a:solidFill>
            <a:srgbClr val="00AAFF">
              <a:alpha val="28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96128" y="1225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BlazeFace Check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96128" y="15270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TF.js detects face client-side — privacy preserved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139696"/>
            <a:ext cx="4206240" cy="877824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322576"/>
            <a:ext cx="475488" cy="475488"/>
          </a:xfrm>
          <a:prstGeom prst="ellipse">
            <a:avLst/>
          </a:prstGeom>
          <a:solidFill>
            <a:srgbClr val="00AAFF">
              <a:alpha val="28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2249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07008" y="2551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frame → POST /api/analyze-mood (JWT)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139696"/>
            <a:ext cx="4206240" cy="877824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83480" y="2322576"/>
            <a:ext cx="475488" cy="475488"/>
          </a:xfrm>
          <a:prstGeom prst="ellipse">
            <a:avLst/>
          </a:prstGeom>
          <a:solidFill>
            <a:srgbClr val="00AAFF">
              <a:alpha val="28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322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96128" y="22494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 Decode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96128" y="25511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decodes &amp; preprocesses the frame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3163824"/>
            <a:ext cx="4206240" cy="877824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3346704"/>
            <a:ext cx="475488" cy="475488"/>
          </a:xfrm>
          <a:prstGeom prst="ellipse">
            <a:avLst/>
          </a:prstGeom>
          <a:solidFill>
            <a:srgbClr val="00AAFF">
              <a:alpha val="28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346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07008" y="3273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 Pipeline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07008" y="35753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+ CNN → 7 raw emotions grouped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3163824"/>
            <a:ext cx="4206240" cy="877824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83480" y="3346704"/>
            <a:ext cx="475488" cy="475488"/>
          </a:xfrm>
          <a:prstGeom prst="ellipse">
            <a:avLst/>
          </a:prstGeom>
          <a:solidFill>
            <a:srgbClr val="00AAFF">
              <a:alpha val="28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346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96128" y="32735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Returned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96128" y="35753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+ confidence (0–1) sent to frontend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187952"/>
            <a:ext cx="8229600" cy="658368"/>
          </a:xfrm>
          <a:prstGeom prst="rect">
            <a:avLst/>
          </a:prstGeom>
          <a:solidFill>
            <a:srgbClr val="0A0E24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187952"/>
            <a:ext cx="54864" cy="658368"/>
          </a:xfrm>
          <a:prstGeom prst="rect">
            <a:avLst/>
          </a:prstGeom>
          <a:solidFill>
            <a:srgbClr val="00D4A4"/>
          </a:solidFill>
          <a:ln w="12700">
            <a:solidFill>
              <a:srgbClr val="00D4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4242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Privacy Guarantee: 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58368" y="45079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frames are NEVER stored.  Only emotion label + confidence score + timestamp are persisted.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Analytics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engagement + understanding emotional trends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7772400" cy="22860"/>
          </a:xfrm>
          <a:prstGeom prst="rect">
            <a:avLst/>
          </a:prstGeom>
          <a:solidFill>
            <a:srgbClr val="00AAFF">
              <a:alpha val="4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4023360" cy="3767328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Gamification Engine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600200"/>
            <a:ext cx="54864" cy="384048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00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base 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8013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mood save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203704"/>
            <a:ext cx="54864" cy="384048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2037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bonus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4048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+5 per entry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807208"/>
            <a:ext cx="54864" cy="384048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807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Starter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0083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 total logs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3410712"/>
            <a:ext cx="54864" cy="384048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410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 Momentum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6118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 total logs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4014216"/>
            <a:ext cx="54864" cy="384048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014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Spark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2153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Happy entries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4023360" cy="3767328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1170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 Dashboard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1600200"/>
            <a:ext cx="54864" cy="38404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6002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Score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18013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Sad×2 + Neutral×1, normalised 0–100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2203704"/>
            <a:ext cx="54864" cy="38404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2037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Next Mood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4048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on last 3 scores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2807208"/>
            <a:ext cx="54864" cy="38404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8072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Trends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300837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distribution grouped by week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410712"/>
            <a:ext cx="54864" cy="38404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4107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6118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confidence chart over time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00600" y="4014216"/>
            <a:ext cx="54864" cy="38404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4014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421538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badge unlocks pushed to dashboard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interventions for each emotional state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7772400" cy="22860"/>
          </a:xfrm>
          <a:prstGeom prst="rect">
            <a:avLst/>
          </a:prstGeom>
          <a:solidFill>
            <a:srgbClr val="00AAFF">
              <a:alpha val="4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2761488" cy="3396996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78992"/>
            <a:ext cx="2761488" cy="365760"/>
          </a:xfrm>
          <a:prstGeom prst="rect">
            <a:avLst/>
          </a:prstGeom>
          <a:solidFill>
            <a:srgbClr val="00D4A4">
              <a:alpha val="30000"/>
            </a:srgbClr>
          </a:solidFill>
          <a:ln w="12700">
            <a:solidFill>
              <a:srgbClr val="00D4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078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 Happy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5361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peer study group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19751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gratitude walk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4140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a junior student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907792"/>
            <a:ext cx="2560320" cy="658368"/>
          </a:xfrm>
          <a:prstGeom prst="rect">
            <a:avLst/>
          </a:prstGeom>
          <a:solidFill>
            <a:srgbClr val="0A0E24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2944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Journaling prompt: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8368" y="31455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am I most grateful for today?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55848" y="1078992"/>
            <a:ext cx="2761488" cy="3396996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55848" y="1078992"/>
            <a:ext cx="2761488" cy="365760"/>
          </a:xfrm>
          <a:prstGeom prst="rect">
            <a:avLst/>
          </a:prstGeom>
          <a:solidFill>
            <a:srgbClr val="FFAA00">
              <a:alpha val="30000"/>
            </a:srgbClr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65576" y="1078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😐  Neutral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65576" y="15361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 stretching routine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65576" y="19751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tomorrow's tasks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65576" y="24140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a friend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65576" y="2907792"/>
            <a:ext cx="2560320" cy="658368"/>
          </a:xfrm>
          <a:prstGeom prst="rect">
            <a:avLst/>
          </a:prstGeom>
          <a:solidFill>
            <a:srgbClr val="0A0E24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557016" y="2944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Journaling prompt: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57016" y="31455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one thing can shift my energy?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54496" y="1078992"/>
            <a:ext cx="2761488" cy="3396996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4496" y="1078992"/>
            <a:ext cx="2761488" cy="365760"/>
          </a:xfrm>
          <a:prstGeom prst="rect">
            <a:avLst/>
          </a:prstGeom>
          <a:solidFill>
            <a:srgbClr val="FF4466">
              <a:alpha val="30000"/>
            </a:srgbClr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1078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 Sad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64224" y="15361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sunlight break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64224" y="19751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 trusted friend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64224" y="241401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counselling resources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64224" y="2907792"/>
            <a:ext cx="2560320" cy="658368"/>
          </a:xfrm>
          <a:prstGeom prst="rect">
            <a:avLst/>
          </a:prstGeom>
          <a:solidFill>
            <a:srgbClr val="0A0E24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55664" y="29443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Journaling prompt: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55664" y="31455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one small step I can take right now?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46451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0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Frameworks Applied: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36523" y="4626864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00AAFF">
              <a:alpha val="20000"/>
            </a:srgbClr>
          </a:solidFill>
          <a:ln w="6350">
            <a:solidFill>
              <a:srgbClr val="00AA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480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 · Cognitive reframing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4629" y="4626864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00AAFF">
              <a:alpha val="20000"/>
            </a:srgbClr>
          </a:solidFill>
          <a:ln w="6350">
            <a:solidFill>
              <a:srgbClr val="00AA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· Acceptance challenges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039189" y="4626864"/>
            <a:ext cx="2011680" cy="274320"/>
          </a:xfrm>
          <a:prstGeom prst="roundRect">
            <a:avLst>
              <a:gd name="adj" fmla="val 33333"/>
            </a:avLst>
          </a:prstGeom>
          <a:solidFill>
            <a:srgbClr val="00AAFF">
              <a:alpha val="20000"/>
            </a:srgbClr>
          </a:solidFill>
          <a:ln w="6350">
            <a:solidFill>
              <a:srgbClr val="00AA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9189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Theory · Strengths-based micro-actions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design — no raw biometric data stored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7772400" cy="22860"/>
          </a:xfrm>
          <a:prstGeom prst="rect">
            <a:avLst/>
          </a:prstGeom>
          <a:solidFill>
            <a:srgbClr val="00AAFF">
              <a:alpha val="4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78992"/>
            <a:ext cx="4114800" cy="233172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338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133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NEVER Store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Emotion label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17099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Confidence score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19568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Timestamp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2037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User ID (opaque)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377440" y="14630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Raw webcam frames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77440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Facial images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77440" y="195681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Biometric embeddings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22037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Facial coordinates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1078992"/>
            <a:ext cx="3931920" cy="233172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1338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Auth Security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Bearer token — all protected endpoints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92040" y="17647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(never reversed)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92040" y="20848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Fernet symmetric encryption for profile fields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404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limits: 5/min auth · 60/min API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92040" y="27249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restricted to frontend origin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92040" y="3044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admin endpoints require role guard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547872"/>
            <a:ext cx="8229600" cy="548640"/>
          </a:xfrm>
          <a:prstGeom prst="rect">
            <a:avLst/>
          </a:prstGeom>
          <a:solidFill>
            <a:srgbClr val="0A0E24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47872"/>
            <a:ext cx="54864" cy="5486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5478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GDPR-Aligned · Data Minimisation · Field-Level Encryption · IRB-Compliant Pilot Design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FF4466">
              <a:alpha val="18000"/>
            </a:srgbClr>
          </a:solidFill>
          <a:ln w="8890">
            <a:solidFill>
              <a:srgbClr val="FF44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242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SECRET_KEY in production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55848" y="420624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FF4466">
              <a:alpha val="18000"/>
            </a:srgbClr>
          </a:solidFill>
          <a:ln w="8890">
            <a:solidFill>
              <a:srgbClr val="FF44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008" y="4242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CRITICAL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93008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privacy breach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54496" y="4206240"/>
            <a:ext cx="2743200" cy="621792"/>
          </a:xfrm>
          <a:prstGeom prst="roundRect">
            <a:avLst>
              <a:gd name="adj" fmla="val 11765"/>
            </a:avLst>
          </a:prstGeom>
          <a:solidFill>
            <a:srgbClr val="FFAA00">
              <a:alpha val="18000"/>
            </a:srgbClr>
          </a:solidFill>
          <a:ln w="8890">
            <a:solidFill>
              <a:srgbClr val="FFA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42428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HIGH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91656" y="4462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auth bypass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Reference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endpoint surface — REST + WebSocket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7772400" cy="22860"/>
          </a:xfrm>
          <a:prstGeom prst="rect">
            <a:avLst/>
          </a:prstGeom>
          <a:solidFill>
            <a:srgbClr val="00AAFF">
              <a:alpha val="4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4206240" cy="1408176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15568"/>
            <a:ext cx="4206240" cy="347472"/>
          </a:xfrm>
          <a:prstGeom prst="rect">
            <a:avLst/>
          </a:prstGeom>
          <a:solidFill>
            <a:srgbClr val="00AAFF">
              <a:alpha val="28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15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5179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18653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212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/api/auth/me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1115568"/>
            <a:ext cx="4206240" cy="1408176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115568"/>
            <a:ext cx="4206240" cy="347472"/>
          </a:xfrm>
          <a:prstGeom prst="rect">
            <a:avLst/>
          </a:prstGeom>
          <a:solidFill>
            <a:srgbClr val="6B00FF">
              <a:alpha val="28000"/>
            </a:srgbClr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115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56048" y="15179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/api/analyze-mood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56048" y="18653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/api/save-mood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56048" y="2212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/api/get-history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313432"/>
            <a:ext cx="4206240" cy="1060704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313432"/>
            <a:ext cx="4206240" cy="347472"/>
          </a:xfrm>
          <a:prstGeom prst="rect">
            <a:avLst/>
          </a:prstGeom>
          <a:solidFill>
            <a:srgbClr val="FFAA00">
              <a:alpha val="28000"/>
            </a:srgbClr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231343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27157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/api/analytics/summary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66928" y="30632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/api/analytics/admin/user-metrics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965960"/>
            <a:ext cx="4206240" cy="71323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965960"/>
            <a:ext cx="4206240" cy="347472"/>
          </a:xfrm>
          <a:prstGeom prst="rect">
            <a:avLst/>
          </a:prstGeom>
          <a:solidFill>
            <a:srgbClr val="00D4A4">
              <a:alpha val="28000"/>
            </a:srgbClr>
          </a:solidFill>
          <a:ln w="12700">
            <a:solidFill>
              <a:srgbClr val="00D4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19659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6048" y="23682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/api/recommend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511296"/>
            <a:ext cx="4206240" cy="1060704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511296"/>
            <a:ext cx="4206240" cy="347472"/>
          </a:xfrm>
          <a:prstGeom prst="rect">
            <a:avLst/>
          </a:prstGeom>
          <a:solidFill>
            <a:srgbClr val="CC88FF">
              <a:alpha val="28000"/>
            </a:srgbClr>
          </a:solidFill>
          <a:ln w="12700">
            <a:solidFill>
              <a:srgbClr val="CC8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5112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39136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/api/notifications/preferences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" y="42611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/api/notifications/daily-check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2816352"/>
            <a:ext cx="4206240" cy="713232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2816352"/>
            <a:ext cx="4206240" cy="347472"/>
          </a:xfrm>
          <a:prstGeom prst="rect">
            <a:avLst/>
          </a:prstGeom>
          <a:solidFill>
            <a:srgbClr val="FF4466">
              <a:alpha val="28000"/>
            </a:srgbClr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8163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56048" y="32186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  /api/ws/mood/{user_id}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0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Swagger UI →  http://localhost:8000/docs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&amp; Deployment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gates on every push — Docker one-command start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7772400" cy="22860"/>
          </a:xfrm>
          <a:prstGeom prst="rect">
            <a:avLst/>
          </a:prstGeom>
          <a:solidFill>
            <a:srgbClr val="00AAFF">
              <a:alpha val="4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691640" cy="141732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1691640" cy="45720"/>
          </a:xfrm>
          <a:prstGeom prst="rect">
            <a:avLst/>
          </a:prstGeom>
          <a:solidFill>
            <a:srgbClr val="7080A8"/>
          </a:solidFill>
          <a:ln w="12700">
            <a:solidFill>
              <a:srgbClr val="7080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6187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Push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Pull Request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48840" y="17190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86000" y="1188720"/>
            <a:ext cx="1691640" cy="141732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0" y="1188720"/>
            <a:ext cx="1691640" cy="45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26187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backend-tests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-q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 tests pass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77640" y="17190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114800" y="1188720"/>
            <a:ext cx="1691640" cy="141732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0" y="1188720"/>
            <a:ext cx="1691640" cy="45720"/>
          </a:xfrm>
          <a:prstGeom prst="rect">
            <a:avLst/>
          </a:prstGeom>
          <a:solidFill>
            <a:srgbClr val="00D4A4"/>
          </a:solidFill>
          <a:ln w="12700">
            <a:solidFill>
              <a:srgbClr val="00D4A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126187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api-smoke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 flows pass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06440" y="171907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943600" y="1188720"/>
            <a:ext cx="1691640" cy="141732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188720"/>
            <a:ext cx="1691640" cy="457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261872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795354"/>
            <a:ext cx="3657600" cy="2308860"/>
          </a:xfrm>
          <a:prstGeom prst="rect">
            <a:avLst/>
          </a:prstGeom>
          <a:solidFill>
            <a:srgbClr val="101535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852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Smoke validates: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31638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health + ready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4198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register + login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6758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analyze-mood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9319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save-mood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4187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get-history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44398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recommend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47000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analytics/summary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9015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notifications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97680" y="2798064"/>
            <a:ext cx="4389120" cy="1609344"/>
          </a:xfrm>
          <a:prstGeom prst="rect">
            <a:avLst/>
          </a:prstGeom>
          <a:solidFill>
            <a:srgbClr val="101535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434840" y="2852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One-Command Deploy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434840" y="32004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34840" y="3566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Frontend → http://localhost:5173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34840" y="37856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Backend/Docs → http://localhost:8000/docs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434840" y="40050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MongoDB → 27017 with named volume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34840" y="4224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env-file injection for secrets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&amp; Metrics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validation + technical excellence targets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7772400" cy="22860"/>
          </a:xfrm>
          <a:prstGeom prst="rect">
            <a:avLst/>
          </a:prstGeom>
          <a:solidFill>
            <a:srgbClr val="00AAFF">
              <a:alpha val="4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Evaluation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029968" cy="128016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2029968" cy="347472"/>
          </a:xfrm>
          <a:prstGeom prst="rect">
            <a:avLst/>
          </a:prstGeom>
          <a:solidFill>
            <a:srgbClr val="00AAFF">
              <a:alpha val="28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258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DASS-21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· Anxiety · Stress Scale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0848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≥20% stress reduction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33472" y="1325880"/>
            <a:ext cx="2029968" cy="128016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33472" y="1325880"/>
            <a:ext cx="2029968" cy="347472"/>
          </a:xfrm>
          <a:prstGeom prst="rect">
            <a:avLst/>
          </a:prstGeom>
          <a:solidFill>
            <a:srgbClr val="6B00FF">
              <a:alpha val="28000"/>
            </a:srgbClr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13258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24912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Resilience Scale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24912" y="20848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≥15% resilience gain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9744" y="1325880"/>
            <a:ext cx="2029968" cy="128016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9744" y="1325880"/>
            <a:ext cx="2029968" cy="347472"/>
          </a:xfrm>
          <a:prstGeom prst="rect">
            <a:avLst/>
          </a:prstGeom>
          <a:solidFill>
            <a:srgbClr val="00D4A4">
              <a:alpha val="28000"/>
            </a:srgbClr>
          </a:solidFill>
          <a:ln w="12700">
            <a:solidFill>
              <a:srgbClr val="00D4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01184" y="13258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01184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Usability Scale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01184" y="20848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80 / 100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86016" y="1325880"/>
            <a:ext cx="2029968" cy="128016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86016" y="1325880"/>
            <a:ext cx="2029968" cy="347472"/>
          </a:xfrm>
          <a:prstGeom prst="rect">
            <a:avLst/>
          </a:prstGeom>
          <a:solidFill>
            <a:srgbClr val="FFAA00">
              <a:alpha val="28000"/>
            </a:srgbClr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13258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77456" y="17373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77456" y="208483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+40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27066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 Targets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3017520"/>
            <a:ext cx="2761488" cy="402336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30175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P95 latency (non-AI)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68880" y="30175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500 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55848" y="3017520"/>
            <a:ext cx="2761488" cy="402336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93008" y="30175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analysis P95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67528" y="30175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54496" y="3017520"/>
            <a:ext cx="2761488" cy="402336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91656" y="301752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availability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266176" y="301752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99%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520440"/>
            <a:ext cx="2761488" cy="402336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94360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 coverage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468880" y="352044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70%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55848" y="3520440"/>
            <a:ext cx="2761488" cy="402336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493008" y="35204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auth vulns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67528" y="3520440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279392"/>
            <a:ext cx="8229600" cy="566928"/>
          </a:xfrm>
          <a:prstGeom prst="rect">
            <a:avLst/>
          </a:prstGeom>
          <a:solidFill>
            <a:srgbClr val="0A0E24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" y="427939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Study:  150 students · 18–25 yrs · 6 weeks · 10–15 min/day · Paired t-tests + ANOVA · IRB-approved · GDPR-compliant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6B00FF"/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Future Enhancements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2–4 toward production and research grade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32688"/>
            <a:ext cx="7772400" cy="22860"/>
          </a:xfrm>
          <a:prstGeom prst="rect">
            <a:avLst/>
          </a:prstGeom>
          <a:solidFill>
            <a:srgbClr val="00AAFF">
              <a:alpha val="45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2761488" cy="347472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15568"/>
            <a:ext cx="2761488" cy="402336"/>
          </a:xfrm>
          <a:prstGeom prst="rect">
            <a:avLst/>
          </a:prstGeom>
          <a:solidFill>
            <a:srgbClr val="00AAFF">
              <a:alpha val="30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1155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 Near Term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59105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data integration (heart rate, sleep)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66928" y="2249424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content (Hindi · Tamil · Telugu)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6928" y="29077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notification delivery (SMTP + push)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56616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test coverage ≥ 70%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55848" y="1115568"/>
            <a:ext cx="2761488" cy="347472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1115568"/>
            <a:ext cx="2761488" cy="402336"/>
          </a:xfrm>
          <a:prstGeom prst="rect">
            <a:avLst/>
          </a:prstGeom>
          <a:solidFill>
            <a:srgbClr val="6B00FF">
              <a:alpha val="30000"/>
            </a:srgbClr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65576" y="11155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 Medium Term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65576" y="159105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mini-games (mindfulness · CBT)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65576" y="2249424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peer community + counsellor alerts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65576" y="29077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SSO via OAuth 2.0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65576" y="356616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self-service data export &amp; deletion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54496" y="1115568"/>
            <a:ext cx="2761488" cy="3474720"/>
          </a:xfrm>
          <a:prstGeom prst="rect">
            <a:avLst/>
          </a:prstGeom>
          <a:solidFill>
            <a:srgbClr val="0C0E2A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54496" y="1115568"/>
            <a:ext cx="2761488" cy="402336"/>
          </a:xfrm>
          <a:prstGeom prst="rect">
            <a:avLst/>
          </a:prstGeom>
          <a:solidFill>
            <a:srgbClr val="FFAA00">
              <a:alpha val="30000"/>
            </a:srgbClr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111556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—  Research Grade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64224" y="1591056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across institutions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64224" y="2249424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Semester-length IRB-approved efficacy study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64224" y="2907792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 (iOS / Android)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64224" y="356616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A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</a:t>
            </a: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counselling triage workflows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0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(v1):  Native mobile app  ·  Biometric wearables  ·  Full Unity game engine  ·  Production observability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4572000"/>
          </a:xfrm>
          <a:prstGeom prst="ellipse">
            <a:avLst/>
          </a:prstGeom>
          <a:solidFill>
            <a:srgbClr val="6B00FF">
              <a:alpha val="12000"/>
            </a:srgbClr>
          </a:solidFill>
          <a:ln w="12700">
            <a:solidFill>
              <a:srgbClr val="6B0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0AAFF">
              <a:alpha val="10000"/>
            </a:srgbClr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PulseMind 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237744" cy="237744"/>
          </a:xfrm>
          <a:prstGeom prst="ellipse">
            <a:avLst/>
          </a:prstGeom>
          <a:solidFill>
            <a:srgbClr val="00AAFF">
              <a:alpha val="35000"/>
            </a:srgbClr>
          </a:solidFill>
          <a:ln w="10160">
            <a:solidFill>
              <a:srgbClr val="00AA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27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prototype: React + FastAPI + MongoDB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0" y="1627632"/>
            <a:ext cx="237744" cy="237744"/>
          </a:xfrm>
          <a:prstGeom prst="ellipse">
            <a:avLst/>
          </a:prstGeom>
          <a:solidFill>
            <a:srgbClr val="00AAFF">
              <a:alpha val="35000"/>
            </a:srgbClr>
          </a:solidFill>
          <a:ln w="1016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276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57800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webcam mood detection with graceful fallback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267712"/>
            <a:ext cx="237744" cy="237744"/>
          </a:xfrm>
          <a:prstGeom prst="ellipse">
            <a:avLst/>
          </a:prstGeom>
          <a:solidFill>
            <a:srgbClr val="00AAFF">
              <a:alpha val="35000"/>
            </a:srgbClr>
          </a:solidFill>
          <a:ln w="10160">
            <a:solidFill>
              <a:srgbClr val="00AA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677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212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CBT/ACT/Resilience recommendations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7760" y="2267712"/>
            <a:ext cx="237744" cy="237744"/>
          </a:xfrm>
          <a:prstGeom prst="ellipse">
            <a:avLst/>
          </a:prstGeom>
          <a:solidFill>
            <a:srgbClr val="00AAFF">
              <a:alpha val="35000"/>
            </a:srgbClr>
          </a:solidFill>
          <a:ln w="1016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2677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2212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for sustained daily engagement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907792"/>
            <a:ext cx="237744" cy="237744"/>
          </a:xfrm>
          <a:prstGeom prst="ellipse">
            <a:avLst/>
          </a:prstGeom>
          <a:solidFill>
            <a:srgbClr val="00AAFF">
              <a:alpha val="35000"/>
            </a:srgbClr>
          </a:solidFill>
          <a:ln w="10160">
            <a:solidFill>
              <a:srgbClr val="00AA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07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" y="2852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Privacy-first: no biometrics stored, fields encrypted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2907792"/>
            <a:ext cx="237744" cy="237744"/>
          </a:xfrm>
          <a:prstGeom prst="ellipse">
            <a:avLst/>
          </a:prstGeom>
          <a:solidFill>
            <a:srgbClr val="00AAFF">
              <a:alpha val="35000"/>
            </a:srgbClr>
          </a:solidFill>
          <a:ln w="10160">
            <a:solidFill>
              <a:srgbClr val="00AA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907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2852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 + comprehensive documentation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4133088"/>
            <a:ext cx="7680960" cy="603504"/>
          </a:xfrm>
          <a:prstGeom prst="rect">
            <a:avLst/>
          </a:prstGeom>
          <a:solidFill>
            <a:srgbClr val="0A0E24"/>
          </a:solidFill>
          <a:ln w="6350">
            <a:solidFill>
              <a:srgbClr val="00AAFF">
                <a:alpha val="4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413308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Achievement Level:  Advanced final-year prototype — technically coherent, demo-ready, and well-structured.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steps: expand test coverage · harden WebSocket auth · add observability · run IRB-approved pilot study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8691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0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1481</Words>
  <Application>Microsoft Office PowerPoint</Application>
  <PresentationFormat>On-screen Show (16:9)</PresentationFormat>
  <Paragraphs>321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PulseMind AI</dc:title>
  <dc:subject>PptxGenJS Presentation</dc:subject>
  <dc:creator>Team Vijayas — Lovely Professional University</dc:creator>
  <cp:lastModifiedBy>Aniket Kumar</cp:lastModifiedBy>
  <cp:revision>2</cp:revision>
  <dcterms:created xsi:type="dcterms:W3CDTF">2026-05-21T10:18:16Z</dcterms:created>
  <dcterms:modified xsi:type="dcterms:W3CDTF">2026-05-29T11:34:14Z</dcterms:modified>
</cp:coreProperties>
</file>